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Today: how a classic business-analytics technique (RFM) becomes a fully automated AI agent. Half concepts, half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intro — emphasise the industry + research mix; invite questions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who has unsubscribed from a brand's emails this month?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a customer who bought yesterday, once ever, for $900 — what does their profile look like? (R5, F1, M5)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'classic Chinese e-commerce CRM' simplification of the full 11-segment RFM grid — four groups are enough to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answers one by one; ask WHY for each. #3 is the interesting one — high historical value but going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 of discussion. Q4 foreshadows the automation argument: segments drift, so the analysis must be repeated — perfect job for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De-hype moment: most production 'agents' are 80% deterministic pipeline + 20% LLM at the judgement/wording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 streamlit run app.py — use sample dataset first; if internet allows, re-run with the Claude strategist toggle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live demo fails, this slide carries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Agents for Retail Analytics:</a:t>
            </a:r>
            <a:br/>
            <a:r>
              <a:t>RFM Customer Segmentation &amp; Automated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FD7EA"/>
                </a:solidFill>
              </a:defRPr>
            </a:pPr>
            <a:r>
              <a:t>Guest Lecture · Data Analytics in Business · National University 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FB7CA"/>
                </a:solidFill>
              </a:defRPr>
            </a:pPr>
            <a:r>
              <a:t>TikTok Engineer (AI Agents) · PhD Student, NTU Singapore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About your lecturer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Software engineer at TikTok — building AI agents for data analytics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Agents that clean data, run analyses, and write reports autonomously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PhD student at NTU Singapore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Research interests: LLM-based agents and applied data analytics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Why this lecture?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is the single most-used segmentation method in retail CRM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It is also a perfect first 'AI agent' project — you can build everything you see today yourselves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Today's roadmap (2 hours)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The business problem: why segment customers?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RFM fundamentals: scores and the four segments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From analyst to AI agent: pipeline anatomy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Live demo: the RFM agent end-to-end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Marketing strategy per segment +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Limitations, ethics &amp; where this goes next · Q&amp;A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1   ·   ~15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business problem:</a:t>
            </a:r>
            <a:br/>
            <a:r>
              <a:t>why segment customers?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Retail's oldest marketing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“Blast” marketing: the same email, discount, and ad for every customer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 loyal VIP gets the same 10% coupon as someone who bought once in 2023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Three predictable failures: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Wasted spend — discounts given to people who would buy anyway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Churn — your best customers feel like strangers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Spam fatigue — low-intent customers unsubscribe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Marketing budgets are finite → you must decide WHO gets WHAT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Not all customers are equal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small share of customers usually drives most of the revenue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In our demo dataset: ~13% of customers generate ~40% of revenue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Industry rule of thumb: the 'Pareto' 80/20 pattern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Acquiring a new customer costs 5–7× more than retaining one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Implication: treat customers differently, deliberately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→ that requires a way to GROUP customers by behaviour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Customer segmentation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Segmentation = splitting your customer base into groups that behave similarly, so each group can be served differently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Common bases for segmentation: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Demographic — age, location, income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Psychographic — lifestyle, values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Behavioural — what people actually DO (purchases, visits, clicks)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Behavioural data wins in retail: it is objective, abundant, and already in your order database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RFM is the classic behavioural segmentation — invented for catalogue mail-order in the 1990s, still everywhere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2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RFM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R · F · M — three questions about every customer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Letter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Intuition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recently did they buy?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Days since last purchase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Recent buyers respond best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often do they buy?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Number of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Habit predicts future buying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Monetary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much do they spend?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Total spend ($)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Past spend predicts future value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All three come straight from the transaction log — no surveys, no extra data collection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Why does such a simple model survive?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Interpretable — a marketing manager can explain every segment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Cheap — three GROUP BY aggregations on data you already have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Actionable — each segment maps directly to a campaign type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Empirically strong — RFM variables remain top predictors of response rate in most retail models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Limitations exist too (we'll return to them):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Ignores product category, margins, and acquisition channel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Backward-looking — describes the past, doesn't forecast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From transactions to RFM — a tiny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3864"/>
                </a:solidFill>
              </a:defRPr>
            </a:pPr>
            <a:r>
              <a:t>•  Transaction log (snapshot date: 1 June)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5486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28 May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10 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 Apr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Ben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30 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20 Jan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3864"/>
                </a:solidFill>
              </a:defRPr>
            </a:pPr>
            <a:r>
              <a:t>•  After GROUP BY customer: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 (days)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$295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Ben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$360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206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One row per customer — this is the table everything else builds 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Scoring: from raw values to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Raw values aren't comparable (days vs counts vs dollars) → convert each to a 1–5 score by quintile (5 equal-sized buckets)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Recency: LOWER days = BETTER = higher score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Frequency &amp; Monetary: HIGHER = BETTER = higher score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customer becomes a 3-digit profile, e.g. R5-F4-M5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Then call a dimension “high” if its score is above the population mean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Why quintiles? Robust to outliers, always balanced, no magic thresholds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four business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5120640" cy="2148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High Value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high · F high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Champions — retain &amp;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214884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Important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high · F low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Big baskets, no habit — develop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5120640" cy="2148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Important Maintaining</a:t>
            </a:r>
            <a:br/>
            <a:r>
              <a:t>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low · F high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Loyal but lapsing — win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4114800"/>
            <a:ext cx="5120640" cy="214884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Normal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everyone else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Broad base — nurture cheaply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Worked example — which segment?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Segment?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#1: bought last week, 14 orders, $3.2k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#2: bought yesterday, 2 orders, $900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#3: last seen 7 months ago, 12 orders, $2.5k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#4: last seen 5 months ago, 2 orders, 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Take 2 minutes with your neighbour — classify all four</a:t>
            </a:r>
          </a:p>
          <a:p>
            <a:pPr lvl="1">
              <a:spcAft>
                <a:spcPts val="500"/>
              </a:spcAft>
              <a:defRPr sz="1400">
                <a:solidFill>
                  <a:srgbClr val="5A5A5A"/>
                </a:solidFill>
              </a:defRPr>
            </a:pPr>
            <a:r>
              <a:t>–  Answers: High Value · Important · Important Maintaining · Normal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Quick check 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Why do we score Recency in reverse (fewer days → higher score)?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A customer's M score is 5 but F score is 1 — what kind of shopper is this? What's the risk of ignoring them?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Why use quintiles instead of fixed cut-offs like “&gt; $1,000 = high”?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What happens to the segments if we re-run the analysis next quarter?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3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From analyst to AI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How this is done manually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typical analyst workflow: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Export CSV → fix Excel formats → pivot tables → RFM formulas → PowerPoint for the marketing team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Takes hours; repeated monthly; error-prone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Each step is judgement + mechanics: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Mechanics: dedupe rows, parse dates, group, score  → automatable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Judgement: what counts as an outlier? which strategy fits? → rules or an LLM can encode much of it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If a workflow is repetitive, rule-describable, and data-driven — it is a candidate for an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program that pursues a GOAL by deciding and executing a sequence of steps itself — not just answering one question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Anatomy: Goal → Perceive (read data) → Decide (rules / LLM) → Act (clean, compute, write) → Report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Spectrum of autonomy: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Script: fixed steps, no decisions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Rule-based agent: fixed steps + encoded decisions  ← our cleaner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LLM agent: language model chooses actions &amp; writes text  ← our strategist (optional mode)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Key engineering idea: use the cheapest mechanism that does the job — LLMs only where language and judgement are needed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Our agent: a 5-step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1. Ingest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raw CSV /</a:t>
            </a:r>
            <a:br/>
            <a:r>
              <a:t>database</a:t>
            </a:r>
          </a:p>
        </p:txBody>
      </p:sp>
      <p:sp>
        <p:nvSpPr>
          <p:cNvPr id="5" name="Can 4"/>
          <p:cNvSpPr/>
          <p:nvPr/>
        </p:nvSpPr>
        <p:spPr>
          <a:xfrm>
            <a:off x="2670048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2103120"/>
            <a:ext cx="2011680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2. Clean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dedupe, fix types,</a:t>
            </a:r>
            <a:br/>
            <a:r>
              <a:t>drop refunds</a:t>
            </a:r>
          </a:p>
        </p:txBody>
      </p:sp>
      <p:sp>
        <p:nvSpPr>
          <p:cNvPr id="7" name="Can 6"/>
          <p:cNvSpPr/>
          <p:nvPr/>
        </p:nvSpPr>
        <p:spPr>
          <a:xfrm>
            <a:off x="4974336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48656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3. RFM Score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quintiles 1–5</a:t>
            </a:r>
            <a:br/>
            <a:r>
              <a:t>per customer</a:t>
            </a:r>
          </a:p>
        </p:txBody>
      </p:sp>
      <p:sp>
        <p:nvSpPr>
          <p:cNvPr id="9" name="Can 8"/>
          <p:cNvSpPr/>
          <p:nvPr/>
        </p:nvSpPr>
        <p:spPr>
          <a:xfrm>
            <a:off x="7278624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2944" y="2103120"/>
            <a:ext cx="2011680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4. Segment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 business</a:t>
            </a:r>
            <a:br/>
            <a:r>
              <a:t>groups</a:t>
            </a:r>
          </a:p>
        </p:txBody>
      </p:sp>
      <p:sp>
        <p:nvSpPr>
          <p:cNvPr id="11" name="Can 10"/>
          <p:cNvSpPr/>
          <p:nvPr/>
        </p:nvSpPr>
        <p:spPr>
          <a:xfrm>
            <a:off x="9582912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57232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5. Report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strategy +</a:t>
            </a:r>
            <a:br/>
            <a:r>
              <a:t>KPIs per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Deterministic where correctness matters (cleaning, scoring) — LLM where language matters (strategy narrative)</a:t>
            </a:r>
          </a:p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Every step logs WHAT it did and WHY → auditability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2 — automated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Real transaction data is dirty. Our sample dataset (on purpose):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duplicate rows · missing customer ids · 'not-a-date' values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amounts like “$1,234.56” · refunds (negative) · $99,000 fat-fingers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The cleaning agent applies ordered rules and logs each action: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“Removed 55 exact duplicate rows”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“Winsorised 27 extreme amounts above the 99.5th percentile”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Why log? Trust. A black-box cleaner is a liability in business analytics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3 — the RFM engine (the code is short!)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Three aggregations + two functions: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= df.groupby('customer_id').agg(recency, frequency, monetary)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score 1–5 by quintile:  pd.qcut(series, q=5)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segment = compare R/F/M scores to their means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~60 lines of pandas — the analytics core is the EASY part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 value of the agent is everything around it: validation, cleaning, logging, narrative, repeatability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4 — strategy generation: rules vs LLM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Rule playbook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LLM strategist (Claude)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Hand-written strategy per segment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Prompted with segment stats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Same text every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Tailored, cites actual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Free, instant, offline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API call, ~seconds, needs key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Generic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Must validate (hallucination)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Use when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Compliance-critical, stable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Insight &amp; wording matter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Our agent does BOTH: playbook always, LLM narrative on top when an API key is present (graceful degradation)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actual prompt we send 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You are a retail CRM strategist. Below is an RFM segment summary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for a retail business (currency: SGD).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&lt;segment statistics table&gt;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For EACH segment, write a concise marketing strategy recommendation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(3–5 sentences) that references the actual numbers (customer share,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revenue share, recency, frequency, spend). Return ONLY a JSON object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mapping the exact segment name to its recommendation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Prompt-engineering lessons: give a role, give the data, constrain the output format, demand grounding in the numbers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☕ Break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Back in 10 minutes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4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Live demo:</a:t>
            </a:r>
            <a:br/>
            <a:r>
              <a:t>the RFM agent end-to-end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What to watch for in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1.  The dirty dataset — can you spot the problems the agent must fix?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2.  The agent's step-by-step narration (cleaning log)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3.  The customer map — four colours, four behaviours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4.  The revenue-concentration chart (who pays the bills?)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5.  The auto-generated strategy report (downloadable Markdown)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Demo app: Streamlit UI — all code is shared with you after class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demo dataset (deliberately dirty)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order_date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C00412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ORD12345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2026-05-28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184.20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  c00412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2026-05-28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184.20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C00077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not-a-date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$1,204.50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05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-95.00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ORD13422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2026-04-11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98700.00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5,533 rows · ~800 customers · duplicates, refunds, missing ids, mixed formats, outliers — exactly what you meet in industry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Demo results — the headline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Avg recency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Avg spend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Revenue share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High Value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$3,596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32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Important Maintaining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208 days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$2,715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185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⅓ of customers ≈ 90% of revenue — and the single biggest revenue block (42%) hasn't shopped in ~7 months: a burning platform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5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Strategy per segment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High Value Customer — retain &amp;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Diagnosis: recent, frequent, top spend — the engine of the business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Goal: retention + advocacy (NOT discounts — they buy on value)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Plays: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VIP loyalty tier, exclusive perks, early product access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Personalised service: dedicated support, birthday gifts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Referral rewards — they bring in customers like themselves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KPIs: repeat rate · share of wallet · NPS / referrals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Important Customer — build the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Diagnosis: recent + big baskets, but only 1–2 orders → no habit yet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 highest-UPSIDE segment: spend is proven, frequency is not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Plays: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Cross-sell complements to the first purchase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Time-boxed “come back in 30 days” incentives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Points programmes where frequency earns the reward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KPIs: purchase frequency · days between orders · 60-day repeat rate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Important Maintaining — win back · Normal — nurture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Important Maintaining (loyal but lapsing):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Win-back campaign with a meaningful incentive + churn survey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Retarget their historical favourite categories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High-value lapsed accounts → personal outreach, not email blasts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KPIs: reactivation rate, win-back ROI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Normal (broad, low-value base):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Low-cost automated channels only; broad seasonal promos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Watch for risers — promote them to higher-touch journeys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KPIs: engagement, upgrade rate to better segments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How would we know the strategies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Segmentation is a hypothesis — campaigns are the experiment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A/B test inside each segment: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Half of 'Important Maintaining' gets the win-back offer, half doesn't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Compare reactivation rate → causal evidence, not vibes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Re-run the agent monthly and track segment MIGRATION: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Are Important customers becoming High Value? (good)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Are High Value sliding into Maintaining? (alarm)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This is where automation pays off: the analysis is free to repeat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6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Limits, ethics &amp; what's next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Limitations &amp; ethics — be a responsible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RFM limits: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Backward-looking; blind to margins, categories, seasonality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New customers always look 'low value' — don't starve them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LLM-in-the-loop limits: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Hallucination: always validate generated numbers against the data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Same input ≠ same output — log prompts &amp; responses for audit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Ethics: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Price/offer discrimination across segments can cross legal lines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PDPA (SG): purchase histories are personal data — minimise, secure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'Normal customer' ≠ a person who deserves worse service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Beyond this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Upgrades to the analytics: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→ CLV (customer lifetime value) prediction; BG/NBD models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K-means clustering on R/F/M instead of fixed rules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Upgrades to the agent: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Schedule it monthly; let it email the report automatically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Tool-using LLM agents: let the model decide which analysis to run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Try it yourself — the full project is yours: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agent/ (≈300 lines of pandas) + app.py (Streamlit) + sample data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Swap in any transaction CSV — your e-commerce side project counts!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1.  Customers are not equal — revenue concentrates; act on it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2.  RFM turns a transaction log into 4 actionable segments with three GROUP BYs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3.  An AI agent = deterministic pipeline for correctness + LLM for judgement &amp; language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4.  Always keep the audit trail: logs make agents trustworthy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5.  Strategy without measurement is decoration — A/B test per segment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FD7EA"/>
                </a:solidFill>
              </a:defRPr>
            </a:pPr>
            <a:r>
              <a:t>Slides, code and dataset: Documents/nus_lecture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FB7CA"/>
                </a:solidFill>
              </a:defRPr>
            </a:pPr>
            <a:r>
              <a:t>TikTok Engineer (AI Agents) · PhD Student, NTU Singapore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